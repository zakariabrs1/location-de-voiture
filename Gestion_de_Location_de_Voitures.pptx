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95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382455"/>
            <a:ext cx="5757863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2" dirty="0">
                <a:solidFill>
                  <a:srgbClr val="1A1A1A"/>
                </a:solidFill>
              </a:rPr>
              <a:t>Conception et Développement d'une Application de Gestion de Location de Voitures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285750" y="3199758"/>
            <a:ext cx="57578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Projet de Module : Développement Web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285750" y="3644457"/>
            <a:ext cx="57578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D93025"/>
                </a:solidFill>
              </a:rPr>
              <a:t>Présenté par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285750" y="3808763"/>
            <a:ext cx="40682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ZAKARIA BOUARISS--ISHAK OUATIQ--MOHAMED REDA ELBAKBACHI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85750" y="4026647"/>
            <a:ext cx="57578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D93025"/>
                </a:solidFill>
              </a:rPr>
              <a:t>Institution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85750" y="4190953"/>
            <a:ext cx="3023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EMSI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85750" y="4408838"/>
            <a:ext cx="57578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D93025"/>
                </a:solidFill>
              </a:rPr>
              <a:t>Date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285750" y="4573144"/>
            <a:ext cx="7384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Janvier 2026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613" y="0"/>
            <a:ext cx="3100388" cy="5114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06227"/>
            <a:ext cx="476622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Introduction et Contexte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600075" y="1329519"/>
            <a:ext cx="4594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Contexte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600075" y="1561691"/>
            <a:ext cx="45947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Le secteur de la location de voitures nécessite une gestion rigoureuse des flux de données (véhicules, clients, reservation).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0075" y="2090328"/>
            <a:ext cx="4594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Objectif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00075" y="2322500"/>
            <a:ext cx="45947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Développer une solution backoffice performante pour automatiser les tâches administratives.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0075" y="2851138"/>
            <a:ext cx="4594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Problématique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00075" y="3083309"/>
            <a:ext cx="45947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Comment optimiser le suivi de la flotte et la facturation via une interface web intuitive 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075" y="3611947"/>
            <a:ext cx="4594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Approche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00075" y="3844119"/>
            <a:ext cx="45947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Utilisation des technologies web modernes pour une gestion centralisée et temps réel.</a:t>
            </a:r>
            <a:endParaRPr lang="en-US" sz="1050" dirty="0"/>
          </a:p>
        </p:txBody>
      </p:sp>
      <p:pic>
        <p:nvPicPr>
          <p:cNvPr id="14" name="Image 1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C414D2E4-EC01-4AC1-3D2D-18997A073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397" y="1661404"/>
            <a:ext cx="3875603" cy="2554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06227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Architecture et Stack Technique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428625" y="1400956"/>
            <a:ext cx="2393156" cy="16716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400956"/>
            <a:ext cx="2393156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15269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1951025"/>
            <a:ext cx="19645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HTML5 / CSS3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642938" y="2217130"/>
            <a:ext cx="19645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Structure sémantique et design responsive pour une compatibilité multi-supports.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036094" y="1400956"/>
            <a:ext cx="2393156" cy="16716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36094" y="1400956"/>
            <a:ext cx="2393156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406" y="1615269"/>
            <a:ext cx="20002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0406" y="1951025"/>
            <a:ext cx="19645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Vanilla JavaScript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3250406" y="2217130"/>
            <a:ext cx="19645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Logique applicative pure (ES6+) sans frameworks pour une performance optimale.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28625" y="3258331"/>
            <a:ext cx="2393156" cy="16716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28625" y="3258331"/>
            <a:ext cx="2393156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472644"/>
            <a:ext cx="25717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938" y="3808400"/>
            <a:ext cx="19645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Chart.js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642938" y="4074505"/>
            <a:ext cx="19645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Visualisation dynamique des données et indicateurs de performance (KPIs).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3036094" y="3258331"/>
            <a:ext cx="2393156" cy="16716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036094" y="3258331"/>
            <a:ext cx="2393156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0406" y="3472644"/>
            <a:ext cx="200025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50406" y="3808400"/>
            <a:ext cx="19645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Mock Data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3250406" y="4074505"/>
            <a:ext cx="19645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Simulation de base de données pour démontrer les fonctionnalités CRUD.</a:t>
            </a:r>
            <a:endParaRPr lang="en-US" sz="834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1400956"/>
            <a:ext cx="3300413" cy="3300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557213"/>
            <a:ext cx="8858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Tableau de Bord &amp; Pilotage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1423392"/>
            <a:ext cx="42005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01 / Indicateurs Clés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285750" y="1616273"/>
            <a:ext cx="42005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Suivi en Temps Réel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85750" y="1921669"/>
            <a:ext cx="42005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Centralisation des données critiques : </a:t>
            </a:r>
            <a:r>
              <a:rPr lang="en-US" sz="885" b="1" dirty="0">
                <a:solidFill>
                  <a:srgbClr val="D93025"/>
                </a:solidFill>
              </a:rPr>
              <a:t>Total véhicules</a:t>
            </a:r>
            <a:r>
              <a:rPr lang="en-US" sz="942" dirty="0">
                <a:solidFill>
                  <a:srgbClr val="333333"/>
                </a:solidFill>
              </a:rPr>
              <a:t>, </a:t>
            </a:r>
            <a:r>
              <a:rPr lang="en-US" sz="885" b="1" dirty="0">
                <a:solidFill>
                  <a:srgbClr val="D93025"/>
                </a:solidFill>
              </a:rPr>
              <a:t>Clients actifs</a:t>
            </a:r>
            <a:r>
              <a:rPr lang="en-US" sz="942" dirty="0">
                <a:solidFill>
                  <a:srgbClr val="333333"/>
                </a:solidFill>
              </a:rPr>
              <a:t> et </a:t>
            </a:r>
            <a:r>
              <a:rPr lang="en-US" sz="885" b="1" dirty="0">
                <a:solidFill>
                  <a:srgbClr val="D93025"/>
                </a:solidFill>
              </a:rPr>
              <a:t>Réservations en cours</a:t>
            </a:r>
            <a:r>
              <a:rPr lang="en-US" sz="942" dirty="0">
                <a:solidFill>
                  <a:srgbClr val="333333"/>
                </a:solidFill>
              </a:rPr>
              <a:t>. Une vision globale immédiate de la santé de l'entreprise.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57725" y="1423392"/>
            <a:ext cx="42005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02 / Analyse Financière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657725" y="1616273"/>
            <a:ext cx="42005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Performance des Revenus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657725" y="1921669"/>
            <a:ext cx="42005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Visualisation dynamique des </a:t>
            </a:r>
            <a:r>
              <a:rPr lang="en-US" sz="885" b="1" dirty="0">
                <a:solidFill>
                  <a:srgbClr val="D93025"/>
                </a:solidFill>
              </a:rPr>
              <a:t>revenus mensuels</a:t>
            </a:r>
            <a:r>
              <a:rPr lang="en-US" sz="942" dirty="0">
                <a:solidFill>
                  <a:srgbClr val="333333"/>
                </a:solidFill>
              </a:rPr>
              <a:t>. Identification des tendances saisonnières et des pics d'activité pour optimiser la stratégie tarifaire.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285750" y="2786063"/>
            <a:ext cx="42005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03 / État de la Flotte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85750" y="2978944"/>
            <a:ext cx="42005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Disponibilité Opérationnelle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85750" y="3284339"/>
            <a:ext cx="42005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Répartition visuelle par statut : </a:t>
            </a:r>
            <a:r>
              <a:rPr lang="en-US" sz="885" b="1" dirty="0">
                <a:solidFill>
                  <a:srgbClr val="D93025"/>
                </a:solidFill>
              </a:rPr>
              <a:t>Disponible</a:t>
            </a:r>
            <a:r>
              <a:rPr lang="en-US" sz="942" dirty="0">
                <a:solidFill>
                  <a:srgbClr val="333333"/>
                </a:solidFill>
              </a:rPr>
              <a:t>, </a:t>
            </a:r>
            <a:r>
              <a:rPr lang="en-US" sz="885" b="1" dirty="0">
                <a:solidFill>
                  <a:srgbClr val="D93025"/>
                </a:solidFill>
              </a:rPr>
              <a:t>En location</a:t>
            </a:r>
            <a:r>
              <a:rPr lang="en-US" sz="942" dirty="0">
                <a:solidFill>
                  <a:srgbClr val="333333"/>
                </a:solidFill>
              </a:rPr>
              <a:t>, ou </a:t>
            </a:r>
            <a:r>
              <a:rPr lang="en-US" sz="885" b="1" dirty="0">
                <a:solidFill>
                  <a:srgbClr val="D93025"/>
                </a:solidFill>
              </a:rPr>
              <a:t>En maintenance</a:t>
            </a:r>
            <a:r>
              <a:rPr lang="en-US" sz="942" dirty="0">
                <a:solidFill>
                  <a:srgbClr val="333333"/>
                </a:solidFill>
              </a:rPr>
              <a:t>. Optimisation du taux de rotation des véhicules.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657725" y="2786063"/>
            <a:ext cx="42005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04 / Aide à la Décision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657725" y="2978944"/>
            <a:ext cx="42005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Pilotage Stratégique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657725" y="3284339"/>
            <a:ext cx="42005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Transformation des données brutes en </a:t>
            </a:r>
            <a:r>
              <a:rPr lang="en-US" sz="885" b="1" dirty="0">
                <a:solidFill>
                  <a:srgbClr val="D93025"/>
                </a:solidFill>
              </a:rPr>
              <a:t>insights actionnables</a:t>
            </a:r>
            <a:r>
              <a:rPr lang="en-US" sz="942" dirty="0">
                <a:solidFill>
                  <a:srgbClr val="333333"/>
                </a:solidFill>
              </a:rPr>
              <a:t>. Les graphiques permettent d'anticiper la demande et d'ajuster les ressources nécessaires.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34789"/>
            <a:ext cx="87153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Gestion du Parc Automobile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1379525"/>
            <a:ext cx="2571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Fonctionnalités CRUD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611697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Ajout, modification et suppression de véhicules avec mise à jour instantanée de l'interface.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286125" y="1379525"/>
            <a:ext cx="2571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Attributs Gérés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286125" y="1611697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Suivi précis de la marque, du modèle, du tarif journalier et du statut opérationnel.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143625" y="1379525"/>
            <a:ext cx="2571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Interface Intuitive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143625" y="1611697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Formulaire de saisie rapide et tableau récapitulatif avec filtres de recherche intégrés.</a:t>
            </a:r>
            <a:endParaRPr lang="en-US" sz="834" dirty="0"/>
          </a:p>
        </p:txBody>
      </p:sp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4761052-F1F7-B693-3FB0-39FF0E5E8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312251"/>
            <a:ext cx="4462272" cy="2338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5609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Gestion de la Clientèle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79448"/>
            <a:ext cx="2428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D93025"/>
                </a:solidFill>
              </a:rPr>
              <a:t>Module 01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2122336"/>
            <a:ext cx="242887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Centralisation des Données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642378"/>
            <a:ext cx="24288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Base de données unique regroupant les informations critiques : identité, coordonnées vérifiées et historique de location.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286125" y="1879448"/>
            <a:ext cx="2428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D93025"/>
                </a:solidFill>
              </a:rPr>
              <a:t>Module 02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3286125" y="2122336"/>
            <a:ext cx="2428875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Expérience Utilisateur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286125" y="2453794"/>
            <a:ext cx="24288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Interface optimisée pour un enregistrement rapide. Validation en temps réel des formats de données (email, téléphone).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000750" y="1879448"/>
            <a:ext cx="2428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D93025"/>
                </a:solidFill>
              </a:rPr>
              <a:t>Module 03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00750" y="2122336"/>
            <a:ext cx="2428875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Sécurité &amp; Intégrité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000750" y="2453794"/>
            <a:ext cx="2428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Protection des données personnelles et conformité aux standards de gestion administrative du backoffice.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17576" y="4214812"/>
            <a:ext cx="8286750" cy="9286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4387407"/>
            <a:ext cx="8001000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F2F2F2"/>
                </a:solidFill>
              </a:rPr>
              <a:t>L'architecture </a:t>
            </a:r>
            <a:r>
              <a:rPr lang="en-US" sz="1090" b="1" dirty="0">
                <a:solidFill>
                  <a:srgbClr val="F2F2F2"/>
                </a:solidFill>
              </a:rPr>
              <a:t>Vanilla JS</a:t>
            </a:r>
            <a:r>
              <a:rPr lang="en-US" sz="1159" dirty="0">
                <a:solidFill>
                  <a:srgbClr val="F2F2F2"/>
                </a:solidFill>
              </a:rPr>
              <a:t> permet une manipulation fluide du DOM pour une gestion dynamique des listes clients sans rechargement de page.</a:t>
            </a:r>
            <a:endParaRPr lang="en-US" sz="1159" dirty="0"/>
          </a:p>
        </p:txBody>
      </p:sp>
      <p:pic>
        <p:nvPicPr>
          <p:cNvPr id="17" name="Image 16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0DF3A359-DF15-C40E-9FB0-3CF51CBE5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9003"/>
            <a:ext cx="3035808" cy="1588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06227"/>
            <a:ext cx="4085332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Processus de Réservation et Facturation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714375" y="198208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01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071563" y="1982084"/>
            <a:ext cx="34423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Flux de Travail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071563" y="2212470"/>
            <a:ext cx="344239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Liaison dynamique entre un client, un véhicule et une période définie.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14375" y="2751097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02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071563" y="2751097"/>
            <a:ext cx="34423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Calcul Automatique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71563" y="2981483"/>
            <a:ext cx="344239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Génération instantanée du prix total selon la durée de location.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14375" y="3520111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03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71563" y="3520111"/>
            <a:ext cx="34423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Statuts &amp; Suivi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071563" y="3750497"/>
            <a:ext cx="344239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Gestion des états (Active, Terminée, Annulée) pour un suivi précis.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14375" y="428912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04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071563" y="4289124"/>
            <a:ext cx="34423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Traçabilité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071563" y="4519510"/>
            <a:ext cx="344239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Association systématique de chaque réservation à sa facture.</a:t>
            </a:r>
            <a:endParaRPr lang="en-US" sz="942" dirty="0"/>
          </a:p>
        </p:txBody>
      </p:sp>
      <p:pic>
        <p:nvPicPr>
          <p:cNvPr id="18" name="Image 1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07C281B8-EBF5-3B00-68BB-D62B5732E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444" y="6812"/>
            <a:ext cx="4570556" cy="2388935"/>
          </a:xfrm>
          <a:prstGeom prst="rect">
            <a:avLst/>
          </a:prstGeom>
        </p:spPr>
      </p:pic>
      <p:pic>
        <p:nvPicPr>
          <p:cNvPr id="20" name="Image 19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3CC4E43-025D-02D0-845D-1009B34F1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454" y="2572504"/>
            <a:ext cx="4570546" cy="23697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285875" y="713231"/>
            <a:ext cx="72866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Administration &amp; Sécurité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1285875" y="1690474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Gestion des Rôles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1285875" y="2020872"/>
            <a:ext cx="34029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Contrôle d'accès granulaire basé sur les responsabilités :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1285875" y="2276261"/>
            <a:ext cx="1064475" cy="17859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85875" y="2276261"/>
            <a:ext cx="1064475" cy="178594"/>
          </a:xfrm>
          <a:prstGeom prst="rect">
            <a:avLst/>
          </a:prstGeom>
          <a:noFill/>
          <a:ln/>
        </p:spPr>
        <p:txBody>
          <a:bodyPr wrap="none" lIns="102108" tIns="34036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Administrateur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2383808" y="2276261"/>
            <a:ext cx="923972" cy="17859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383808" y="2276261"/>
            <a:ext cx="923972" cy="178594"/>
          </a:xfrm>
          <a:prstGeom prst="rect">
            <a:avLst/>
          </a:prstGeom>
          <a:noFill/>
          <a:ln/>
        </p:spPr>
        <p:txBody>
          <a:bodyPr wrap="none" lIns="102108" tIns="34036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Gestionnaire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3341238" y="2276261"/>
            <a:ext cx="843660" cy="17859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41238" y="2276261"/>
            <a:ext cx="843660" cy="178594"/>
          </a:xfrm>
          <a:prstGeom prst="rect">
            <a:avLst/>
          </a:prstGeom>
          <a:noFill/>
          <a:ln/>
        </p:spPr>
        <p:txBody>
          <a:bodyPr wrap="none" lIns="102108" tIns="34036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2F2F2"/>
                </a:solidFill>
              </a:rPr>
              <a:t>Superviseur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143500" y="1690474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Sécurité Applicative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5143500" y="2011942"/>
            <a:ext cx="3429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Système de déconnexion sécurisé et protection des routes administratives pour prévenir les accès non autorisés.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285875" y="3190661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Maintenance Système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1285875" y="3512130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Interface dédiée à la gestion des comptes opérateurs, assurant la pérennité et la mise à jour des accès.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143500" y="3190661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Audit &amp; Traçabilité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5143500" y="3512130"/>
            <a:ext cx="3429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Suivi rigoureux des actions effectuées par les différents utilisateurs pour garantir l'intégrité des données.</a:t>
            </a:r>
            <a:endParaRPr lang="en-US" sz="942" dirty="0"/>
          </a:p>
        </p:txBody>
      </p:sp>
      <p:pic>
        <p:nvPicPr>
          <p:cNvPr id="20" name="Image 19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9936F453-6595-1557-D05A-8D6D1EBE8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151" y="-1699"/>
            <a:ext cx="2982849" cy="14710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791952"/>
            <a:ext cx="4143375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Conclusion et Perspectives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600075" y="1737773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Résultats du Projet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600075" y="1969945"/>
            <a:ext cx="39719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Une application backoffice fonctionnelle couvrant l'intégralité du cycle de location, de la gestion de flotte à la facturation.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00075" y="2544291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Points Forts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00075" y="2776463"/>
            <a:ext cx="39719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Interface intuitive, rapidité d'exécution grâce au Vanilla JS et visualisation claire des indicateurs de performance.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00075" y="3350809"/>
            <a:ext cx="3971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Apprentissage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00075" y="3582981"/>
            <a:ext cx="39719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Maîtrise du cycle de développement web complet, de la manipulation du DOM et de l'intégration de bibliothèques tierces.</a:t>
            </a:r>
            <a:endParaRPr lang="en-US" sz="942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69" y="428625"/>
            <a:ext cx="3729038" cy="2443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438" y="3332559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b="1" dirty="0">
              <a:solidFill>
                <a:srgbClr val="1A1A1A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643438" y="3579019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4643438" y="3825478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2485" y="857250"/>
            <a:ext cx="8579002" cy="1271588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11110" y="1285875"/>
            <a:ext cx="7721752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-2" dirty="0">
                <a:solidFill>
                  <a:srgbClr val="F2F2F2"/>
                </a:solidFill>
              </a:rPr>
              <a:t>Merci pour votre attention</a:t>
            </a:r>
            <a:endParaRPr lang="en-US" sz="373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129" y="2271713"/>
            <a:ext cx="2840338" cy="200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651</Words>
  <Application>Microsoft Office PowerPoint</Application>
  <PresentationFormat>Affichage à l'écran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Reda El Bekbachi</cp:lastModifiedBy>
  <cp:revision>3</cp:revision>
  <dcterms:created xsi:type="dcterms:W3CDTF">2026-01-06T14:36:41Z</dcterms:created>
  <dcterms:modified xsi:type="dcterms:W3CDTF">2026-01-06T15:51:13Z</dcterms:modified>
</cp:coreProperties>
</file>